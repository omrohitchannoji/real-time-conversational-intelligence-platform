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20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  <Relationship Id="rId20" Type="http://schemas.openxmlformats.org/officeDocument/2006/relationships/slide" Target="slides/slide14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0B1F3A"/>
                </a:solidFill>
                <a:latin typeface="Calibri"/>
              </a:rPr>
              <a:t>End-to-End Latency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Latency (s)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3.85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Upgraded</c:v>
                </c:pt>
              </c:strCache>
            </c:strRef>
          </c:tx>
          <c:spPr>
            <a:solidFill>
              <a:srgbClr val="12B8B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Latency (s)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0.38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8F0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0B1F3A"/>
                </a:solidFill>
                <a:latin typeface="Calibri"/>
              </a:rPr>
              <a:t>Throughput (msgs/sec)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Throughput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Upgraded</c:v>
                </c:pt>
              </c:strCache>
            </c:strRef>
          </c:tx>
          <c:spPr>
            <a:solidFill>
              <a:srgbClr val="12B8B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Throughput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2.62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8F0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0B1F3A"/>
                </a:solidFill>
                <a:latin typeface="Calibri"/>
              </a:rPr>
              <a:t>PySpark RAM Footprint (GB)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RAM (GB)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Upgraded</c:v>
                </c:pt>
              </c:strCache>
            </c:strRef>
          </c:tx>
          <c:spPr>
            <a:solidFill>
              <a:srgbClr val="12B8B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RAM (GB)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8F0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3931920"/>
            <a:ext cx="4206240" cy="4206240"/>
          </a:xfrm>
          <a:prstGeom prst="ellipse">
            <a:avLst/>
          </a:prstGeom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3977640"/>
            <a:ext cx="4114800" cy="4114800"/>
          </a:xfrm>
          <a:prstGeom prst="ellipse">
            <a:avLst/>
          </a:prstGeom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4023360"/>
            <a:ext cx="4023360" cy="4023360"/>
          </a:xfrm>
          <a:prstGeom prst="ellipse">
            <a:avLst/>
          </a:prstGeom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4069080"/>
            <a:ext cx="3931920" cy="3931920"/>
          </a:xfrm>
          <a:prstGeom prst="ellipse">
            <a:avLst/>
          </a:prstGeom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4114800"/>
            <a:ext cx="3840480" cy="3840480"/>
          </a:xfrm>
          <a:prstGeom prst="ellipse">
            <a:avLst/>
          </a:prstGeom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46920" y="3611880"/>
            <a:ext cx="128016" cy="128016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0" y="4160520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9" name="Shape 7"/>
          <p:cNvSpPr/>
          <p:nvPr/>
        </p:nvSpPr>
        <p:spPr>
          <a:xfrm>
            <a:off x="10561320" y="5532120"/>
            <a:ext cx="128016" cy="128016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10" name="Shape 8"/>
          <p:cNvSpPr/>
          <p:nvPr/>
        </p:nvSpPr>
        <p:spPr>
          <a:xfrm>
            <a:off x="8915400" y="4892040"/>
            <a:ext cx="128016" cy="128016"/>
          </a:xfrm>
          <a:prstGeom prst="ellipse">
            <a:avLst/>
          </a:prstGeom>
          <a:solidFill>
            <a:srgbClr val="4C7BC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HYDERABAD  ·  DIPLOMA IN BIG DATA ANALYTICS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123444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Conversational Context Modeling</a:t>
            </a:r>
            <a:endParaRPr lang="en-US" sz="3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Social Relationship Intelligence Platform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enterprise-grade, event-driven streaming NLP pipeline with an 8-stage data quality, validation &amp; reliability pipeline, a hybrid local + cloud AI engine, and a Neo4j social-graph intelligence layer.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155802" cy="365760"/>
          </a:xfrm>
          <a:prstGeom prst="roundRect">
            <a:avLst>
              <a:gd name="adj" fmla="val 20000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160520"/>
            <a:ext cx="1155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942186" y="4160520"/>
            <a:ext cx="1530706" cy="365760"/>
          </a:xfrm>
          <a:prstGeom prst="roundRect">
            <a:avLst>
              <a:gd name="adj" fmla="val 20000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42186" y="4160520"/>
            <a:ext cx="15307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Streaming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19195" y="4160520"/>
            <a:ext cx="1680667" cy="365760"/>
          </a:xfrm>
          <a:prstGeom prst="roundRect">
            <a:avLst>
              <a:gd name="adj" fmla="val 20000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9195" y="4160520"/>
            <a:ext cx="16806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EmbeddingGemma-300M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46166" y="4160520"/>
            <a:ext cx="2055571" cy="365760"/>
          </a:xfrm>
          <a:prstGeom prst="roundRect">
            <a:avLst>
              <a:gd name="adj" fmla="val 20000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6166" y="4160520"/>
            <a:ext cx="20555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LPU · Llama-3.3-70B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48042" y="4160520"/>
            <a:ext cx="1230782" cy="365760"/>
          </a:xfrm>
          <a:prstGeom prst="roundRect">
            <a:avLst>
              <a:gd name="adj" fmla="val 20000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48042" y="4160520"/>
            <a:ext cx="12307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25128" y="4160520"/>
            <a:ext cx="630936" cy="365760"/>
          </a:xfrm>
          <a:prstGeom prst="roundRect">
            <a:avLst>
              <a:gd name="adj" fmla="val 20000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25128" y="4160520"/>
            <a:ext cx="630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5074920"/>
            <a:ext cx="8778240" cy="0"/>
          </a:xfrm>
          <a:prstGeom prst="line">
            <a:avLst/>
          </a:prstGeom>
          <a:noFill/>
          <a:ln w="12700">
            <a:solidFill>
              <a:srgbClr val="2339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303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5577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Umear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0080" y="6035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" y="6309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Omrohit (Lead)  ·  Srushti Bandewar  ·  Atharva  ·  Lishanth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Vision &amp; Core Platform Capabilities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55064"/>
            <a:ext cx="91440" cy="91440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real-time conversational analysis across unstructured, high-velocity streaming feeds — Reddit, Slack, and Discord.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87752"/>
            <a:ext cx="91440" cy="91440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32888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streaming transport (Apache Kafka) with distributed consumer validation (PySpark Structured Streaming).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91440" cy="91440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465576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a hybrid local-and-cloud AI pipeline: EmbeddingGemma-300M (768D, local) + Groq LPU Llama-3.3-70B.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453128"/>
            <a:ext cx="91440" cy="91440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398264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Dual-sink architecture writes verified enriched records to MongoDB Atlas Cloud while updating a Neo4j property graph.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1463040"/>
            <a:ext cx="4206240" cy="48920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233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BENCHMARK ACHIEVEMENTS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B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0.38s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326880" y="21579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 / message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0" y="29443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B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2.62/s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326880" y="29992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· 16-thread pool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0" y="378561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99.2%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32688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keyword &amp; intent precision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0" y="462686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93.7%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326880" y="46817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footprint reduction (9.6GB→600MB)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0" y="54681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326880" y="55229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data loss · isolated DLQ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HYDERABAD  ·  DIPLOMA IN BIG DATA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STATEMENT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Core Production Bottlenecks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212848" cy="429768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2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4767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56032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Fragmentation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3474720"/>
            <a:ext cx="18105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forms deep reply trees. Streaming chronologically detaches child replies from parent posts, breaking downstream topic comprehension.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2907792" y="1691640"/>
            <a:ext cx="2212848" cy="429768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2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194767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8960" y="256032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&amp; Payload Corruption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08960" y="3474720"/>
            <a:ext cx="18105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feeds contain missing fields, unexpected nulls, non-UTF-8 characters, empty bodies, and malformed JSON that crash ML pipelines.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5266944" y="1691640"/>
            <a:ext cx="2212848" cy="429768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233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68112" y="194767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5468112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68112" y="256032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Thrashing &amp; OOM Crashes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68112" y="3474720"/>
            <a:ext cx="18105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heavy PyTorch models inside individual PySpark workers creates massive RAM bloat (9.6GB/worker), triggering node crashes.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7626096" y="1691640"/>
            <a:ext cx="2212848" cy="429768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23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27264" y="194767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7827264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827264" y="256032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vs. Precision Tradeoffs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827264" y="3474720"/>
            <a:ext cx="18105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models (LDA, TF-IDF) reach ~62% precision; instruction-tuned LLMs reach ~99% but add API latency and quota limits.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9985248" y="1691640"/>
            <a:ext cx="2212848" cy="429768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233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186416" y="194767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6" name="Text 24"/>
          <p:cNvSpPr/>
          <p:nvPr/>
        </p:nvSpPr>
        <p:spPr>
          <a:xfrm>
            <a:off x="10186416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86416" y="256032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Quota Constraints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0186416" y="3474720"/>
            <a:ext cx="18105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databases (MongoDB Atlas M0, 512MB) enforce strict quota boundaries, requiring hybrid local/cloud separation.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HYDERABAD  ·  DIPLOMA IN BIG DATA ANALYTICS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Objectives &amp; Success Criteria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2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84248"/>
            <a:ext cx="128016" cy="384048"/>
          </a:xfrm>
          <a:prstGeom prst="roundRect">
            <a:avLst>
              <a:gd name="adj" fmla="val 21429"/>
            </a:avLst>
          </a:prstGeom>
          <a:solidFill>
            <a:srgbClr val="12B8B0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Engineering &amp; Reliability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41248" y="2651760"/>
            <a:ext cx="365760" cy="365760"/>
          </a:xfrm>
          <a:prstGeom prst="ellipse">
            <a:avLst/>
          </a:prstGeom>
          <a:solidFill>
            <a:srgbClr val="E6F8F6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63347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transport: Kafka pipeline with acks='all', retries=3.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841248" y="3474720"/>
            <a:ext cx="365760" cy="365760"/>
          </a:xfrm>
          <a:prstGeom prst="ellipse">
            <a:avLst/>
          </a:prstGeom>
          <a:solidFill>
            <a:srgbClr val="E6F8F6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345643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8-stage data quality, validation &amp; reliability pipeline enforcing Pydantic end-to-end.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841248" y="4297680"/>
            <a:ext cx="365760" cy="365760"/>
          </a:xfrm>
          <a:prstGeom prst="ellipse">
            <a:avLst/>
          </a:prstGeom>
          <a:solidFill>
            <a:srgbClr val="E6F8F6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427939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silent data loss: isolated Dead Letter Queue with audit logs.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841248" y="5120640"/>
            <a:ext cx="365760" cy="365760"/>
          </a:xfrm>
          <a:prstGeom prst="ellipse">
            <a:avLst/>
          </a:prstGeom>
          <a:solidFill>
            <a:srgbClr val="E6F8F6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5111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510235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16-thread bounded pool (ThreadPoolExecutor) for micro-batch inference.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6263640" y="169164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23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6248" y="1984248"/>
            <a:ext cx="128016" cy="384048"/>
          </a:xfrm>
          <a:prstGeom prst="roundRect">
            <a:avLst>
              <a:gd name="adj" fmla="val 21429"/>
            </a:avLst>
          </a:prstGeom>
          <a:solidFill>
            <a:srgbClr val="FF6B4A"/>
          </a:solidFill>
          <a:ln/>
        </p:spPr>
      </p:sp>
      <p:sp>
        <p:nvSpPr>
          <p:cNvPr id="21" name="Text 19"/>
          <p:cNvSpPr/>
          <p:nvPr/>
        </p:nvSpPr>
        <p:spPr>
          <a:xfrm>
            <a:off x="679399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AI, Graph &amp; Analytics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6556248" y="2651760"/>
            <a:ext cx="365760" cy="365760"/>
          </a:xfrm>
          <a:prstGeom prst="ellipse">
            <a:avLst/>
          </a:prstGeom>
          <a:solidFill>
            <a:srgbClr val="FFECE7"/>
          </a:solidFill>
          <a:ln/>
        </p:spPr>
      </p:sp>
      <p:sp>
        <p:nvSpPr>
          <p:cNvPr id="23" name="Text 21"/>
          <p:cNvSpPr/>
          <p:nvPr/>
        </p:nvSpPr>
        <p:spPr>
          <a:xfrm>
            <a:off x="6556248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86600" y="263347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768D embeddings via EmbeddingGemma-300M at zero API cost.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6556248" y="3474720"/>
            <a:ext cx="365760" cy="365760"/>
          </a:xfrm>
          <a:prstGeom prst="ellipse">
            <a:avLst/>
          </a:prstGeom>
          <a:solidFill>
            <a:srgbClr val="FFECE7"/>
          </a:solidFill>
          <a:ln/>
        </p:spPr>
      </p:sp>
      <p:sp>
        <p:nvSpPr>
          <p:cNvPr id="26" name="Text 24"/>
          <p:cNvSpPr/>
          <p:nvPr/>
        </p:nvSpPr>
        <p:spPr>
          <a:xfrm>
            <a:off x="6556248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86600" y="345643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LPU topic engine extracting structured JSON via Llama-3.3-70B.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6556248" y="4297680"/>
            <a:ext cx="365760" cy="365760"/>
          </a:xfrm>
          <a:prstGeom prst="ellipse">
            <a:avLst/>
          </a:prstGeom>
          <a:solidFill>
            <a:srgbClr val="FFECE7"/>
          </a:solidFill>
          <a:ln/>
        </p:spPr>
      </p:sp>
      <p:sp>
        <p:nvSpPr>
          <p:cNvPr id="29" name="Text 27"/>
          <p:cNvSpPr/>
          <p:nvPr/>
        </p:nvSpPr>
        <p:spPr>
          <a:xfrm>
            <a:off x="6556248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86600" y="427939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inference: Continuation, Elaboration, or Topic-Shift.</a:t>
            </a:r>
            <a:endParaRPr lang="en-US" sz="1230" dirty="0"/>
          </a:p>
        </p:txBody>
      </p:sp>
      <p:sp>
        <p:nvSpPr>
          <p:cNvPr id="31" name="Shape 29"/>
          <p:cNvSpPr/>
          <p:nvPr/>
        </p:nvSpPr>
        <p:spPr>
          <a:xfrm>
            <a:off x="6556248" y="5120640"/>
            <a:ext cx="365760" cy="365760"/>
          </a:xfrm>
          <a:prstGeom prst="ellipse">
            <a:avLst/>
          </a:prstGeom>
          <a:solidFill>
            <a:srgbClr val="FFECE7"/>
          </a:solidFill>
          <a:ln/>
        </p:spPr>
      </p:sp>
      <p:sp>
        <p:nvSpPr>
          <p:cNvPr id="32" name="Text 30"/>
          <p:cNvSpPr/>
          <p:nvPr/>
        </p:nvSpPr>
        <p:spPr>
          <a:xfrm>
            <a:off x="6556248" y="5111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86600" y="510235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graph &amp; dashboard: Neo4j interaction graphs, Streamlit KPIs.</a:t>
            </a:r>
            <a:endParaRPr lang="en-US" sz="123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HYDERABAD  ·  DIPLOMA IN BIG DATA ANALYTICS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 &amp; Data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755648" cy="1828800"/>
          </a:xfrm>
          <a:prstGeom prst="roundRect">
            <a:avLst>
              <a:gd name="adj" fmla="val 3646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95681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22128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Storage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27432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MongoDB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raw_messages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765,941 records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 rot="5400000">
            <a:off x="2302002" y="2660904"/>
            <a:ext cx="128016" cy="164592"/>
          </a:xfrm>
          <a:prstGeom prst="triangle">
            <a:avLst/>
          </a:prstGeom>
          <a:solidFill>
            <a:srgbClr val="12B8B0"/>
          </a:solidFill>
          <a:ln/>
        </p:spPr>
      </p:sp>
      <p:sp>
        <p:nvSpPr>
          <p:cNvPr id="9" name="Shape 7"/>
          <p:cNvSpPr/>
          <p:nvPr/>
        </p:nvSpPr>
        <p:spPr>
          <a:xfrm>
            <a:off x="2427732" y="1828800"/>
            <a:ext cx="1755648" cy="1828800"/>
          </a:xfrm>
          <a:prstGeom prst="roundRect">
            <a:avLst>
              <a:gd name="adj" fmla="val 3646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37460" y="195681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37460" y="22128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537460" y="27432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Producer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L1 / L2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 rot="5400000">
            <a:off x="4181094" y="2660904"/>
            <a:ext cx="128016" cy="164592"/>
          </a:xfrm>
          <a:prstGeom prst="triangle">
            <a:avLst/>
          </a:prstGeom>
          <a:solidFill>
            <a:srgbClr val="12B8B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06824" y="1828800"/>
            <a:ext cx="1755648" cy="1828800"/>
          </a:xfrm>
          <a:prstGeom prst="roundRect">
            <a:avLst>
              <a:gd name="adj" fmla="val 3646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16552" y="195681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16552" y="22128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416552" y="27432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reddit_messages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 rot="5400000">
            <a:off x="6060186" y="2660904"/>
            <a:ext cx="128016" cy="164592"/>
          </a:xfrm>
          <a:prstGeom prst="triangle">
            <a:avLst/>
          </a:prstGeom>
          <a:solidFill>
            <a:srgbClr val="12B8B0"/>
          </a:solidFill>
          <a:ln/>
        </p:spPr>
      </p:sp>
      <p:sp>
        <p:nvSpPr>
          <p:cNvPr id="19" name="Shape 17"/>
          <p:cNvSpPr/>
          <p:nvPr/>
        </p:nvSpPr>
        <p:spPr>
          <a:xfrm>
            <a:off x="6185916" y="1828800"/>
            <a:ext cx="1755648" cy="1828800"/>
          </a:xfrm>
          <a:prstGeom prst="roundRect">
            <a:avLst>
              <a:gd name="adj" fmla="val 3646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5644" y="195681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95644" y="22128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95644" y="27432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Streaming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ThreadPool workers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 rot="5400000">
            <a:off x="7939278" y="2660904"/>
            <a:ext cx="128016" cy="164592"/>
          </a:xfrm>
          <a:prstGeom prst="triangle">
            <a:avLst/>
          </a:prstGeom>
          <a:solidFill>
            <a:srgbClr val="12B8B0"/>
          </a:solidFill>
          <a:ln/>
        </p:spPr>
      </p:sp>
      <p:sp>
        <p:nvSpPr>
          <p:cNvPr id="24" name="Shape 22"/>
          <p:cNvSpPr/>
          <p:nvPr/>
        </p:nvSpPr>
        <p:spPr>
          <a:xfrm>
            <a:off x="8065008" y="1828800"/>
            <a:ext cx="1755648" cy="1828800"/>
          </a:xfrm>
          <a:prstGeom prst="roundRect">
            <a:avLst>
              <a:gd name="adj" fmla="val 3646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74736" y="195681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74736" y="22128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Enrichment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174736" y="27432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EmbeddingGemma 768D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Groq LPU JSON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 rot="5400000">
            <a:off x="9818370" y="2660904"/>
            <a:ext cx="128016" cy="164592"/>
          </a:xfrm>
          <a:prstGeom prst="triangle">
            <a:avLst/>
          </a:prstGeom>
          <a:solidFill>
            <a:srgbClr val="12B8B0"/>
          </a:solidFill>
          <a:ln/>
        </p:spPr>
      </p:sp>
      <p:sp>
        <p:nvSpPr>
          <p:cNvPr id="29" name="Shape 27"/>
          <p:cNvSpPr/>
          <p:nvPr/>
        </p:nvSpPr>
        <p:spPr>
          <a:xfrm>
            <a:off x="9944100" y="1828800"/>
            <a:ext cx="1755648" cy="1828800"/>
          </a:xfrm>
          <a:prstGeom prst="roundRect">
            <a:avLst>
              <a:gd name="adj" fmla="val 3646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3828" y="195681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053828" y="22128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0053828" y="27432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Neo4j + DLQ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54864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SHAPE MATTERS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398264"/>
            <a:ext cx="82296" cy="822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5" name="Text 33"/>
          <p:cNvSpPr/>
          <p:nvPr/>
        </p:nvSpPr>
        <p:spPr>
          <a:xfrm>
            <a:off x="768096" y="4297680"/>
            <a:ext cx="5129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decouples ingestion from processing, absorbing traffic spikes without back-pressure on producers.</a:t>
            </a:r>
            <a:endParaRPr lang="en-US" sz="1130" dirty="0"/>
          </a:p>
        </p:txBody>
      </p:sp>
      <p:sp>
        <p:nvSpPr>
          <p:cNvPr id="36" name="Shape 34"/>
          <p:cNvSpPr/>
          <p:nvPr/>
        </p:nvSpPr>
        <p:spPr>
          <a:xfrm>
            <a:off x="6263640" y="4398264"/>
            <a:ext cx="82296" cy="822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7" name="Text 35"/>
          <p:cNvSpPr/>
          <p:nvPr/>
        </p:nvSpPr>
        <p:spPr>
          <a:xfrm>
            <a:off x="6483096" y="4297680"/>
            <a:ext cx="5129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PySpark's 16-worker ThreadPool turns per-message inference into parallel micro-batches for throughput.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548640" y="5312664"/>
            <a:ext cx="82296" cy="822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9" name="Text 37"/>
          <p:cNvSpPr/>
          <p:nvPr/>
        </p:nvSpPr>
        <p:spPr>
          <a:xfrm>
            <a:off x="768096" y="5212080"/>
            <a:ext cx="5129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runs local (embeddings) and cloud (LLM) side-by-side, balancing cost, speed, and accuracy.</a:t>
            </a:r>
            <a:endParaRPr lang="en-US" sz="1130" dirty="0"/>
          </a:p>
        </p:txBody>
      </p:sp>
      <p:sp>
        <p:nvSpPr>
          <p:cNvPr id="40" name="Shape 38"/>
          <p:cNvSpPr/>
          <p:nvPr/>
        </p:nvSpPr>
        <p:spPr>
          <a:xfrm>
            <a:off x="6263640" y="5312664"/>
            <a:ext cx="82296" cy="822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1" name="Text 39"/>
          <p:cNvSpPr/>
          <p:nvPr/>
        </p:nvSpPr>
        <p:spPr>
          <a:xfrm>
            <a:off x="6483096" y="5212080"/>
            <a:ext cx="5129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lands in exactly one of two places — a verified sink or the DLQ — so nothing is silently dropped.</a:t>
            </a:r>
            <a:endParaRPr lang="en-US" sz="113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HYDERABAD  ·  DIPLOMA IN BIG DATA ANALYTICS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Component Matrix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11880" y="16916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23760" y="1691640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FUNCTION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11091672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48840"/>
            <a:ext cx="3657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2148840"/>
            <a:ext cx="21945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11880" y="2148840"/>
            <a:ext cx="3429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MongoDB (raw_database)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7223760" y="2148840"/>
            <a:ext cx="437083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message storage — 765,941 records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548640" y="2610612"/>
            <a:ext cx="11091672" cy="461772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10612"/>
            <a:ext cx="3657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2610612"/>
            <a:ext cx="21945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11880" y="2610612"/>
            <a:ext cx="3429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3.5 (Docker)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7223760" y="2610612"/>
            <a:ext cx="437083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event log · acks='all', retries=3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548640" y="3072384"/>
            <a:ext cx="11091672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072384"/>
            <a:ext cx="3657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3072384"/>
            <a:ext cx="21945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Consumer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11880" y="3072384"/>
            <a:ext cx="3429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3.5 Structured Streaming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7223760" y="3072384"/>
            <a:ext cx="437083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Micro-batch processing, 16-thread pool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548640" y="3534156"/>
            <a:ext cx="11091672" cy="461772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534156"/>
            <a:ext cx="3657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34440" y="3534156"/>
            <a:ext cx="21945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Vector AI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11880" y="3534156"/>
            <a:ext cx="3429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EmbeddingGemma-300M</a:t>
            </a:r>
            <a:endParaRPr lang="en-US" sz="1070" dirty="0"/>
          </a:p>
        </p:txBody>
      </p:sp>
      <p:sp>
        <p:nvSpPr>
          <p:cNvPr id="28" name="Text 26"/>
          <p:cNvSpPr/>
          <p:nvPr/>
        </p:nvSpPr>
        <p:spPr>
          <a:xfrm>
            <a:off x="7223760" y="3534156"/>
            <a:ext cx="437083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768D local CPU vector generation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548640" y="3995928"/>
            <a:ext cx="11091672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995928"/>
            <a:ext cx="3657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34440" y="3995928"/>
            <a:ext cx="21945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LLM AI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11880" y="3995928"/>
            <a:ext cx="3429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LPU (Llama-3.3-70B)</a:t>
            </a:r>
            <a:endParaRPr lang="en-US" sz="1070" dirty="0"/>
          </a:p>
        </p:txBody>
      </p:sp>
      <p:sp>
        <p:nvSpPr>
          <p:cNvPr id="33" name="Text 31"/>
          <p:cNvSpPr/>
          <p:nvPr/>
        </p:nvSpPr>
        <p:spPr>
          <a:xfrm>
            <a:off x="7223760" y="3995928"/>
            <a:ext cx="437083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topic &amp; intent extraction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548640" y="4457700"/>
            <a:ext cx="11091672" cy="461772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4457700"/>
            <a:ext cx="3657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234440" y="4457700"/>
            <a:ext cx="21945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11880" y="4457700"/>
            <a:ext cx="3429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Cloud</a:t>
            </a:r>
            <a:endParaRPr lang="en-US" sz="1070" dirty="0"/>
          </a:p>
        </p:txBody>
      </p:sp>
      <p:sp>
        <p:nvSpPr>
          <p:cNvPr id="38" name="Text 36"/>
          <p:cNvSpPr/>
          <p:nvPr/>
        </p:nvSpPr>
        <p:spPr>
          <a:xfrm>
            <a:off x="7223760" y="4457700"/>
            <a:ext cx="437083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enriched message database</a:t>
            </a:r>
            <a:endParaRPr lang="en-US" sz="1030" dirty="0"/>
          </a:p>
        </p:txBody>
      </p:sp>
      <p:sp>
        <p:nvSpPr>
          <p:cNvPr id="39" name="Shape 37"/>
          <p:cNvSpPr/>
          <p:nvPr/>
        </p:nvSpPr>
        <p:spPr>
          <a:xfrm>
            <a:off x="548640" y="4919472"/>
            <a:ext cx="11091672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4919472"/>
            <a:ext cx="3657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234440" y="4919472"/>
            <a:ext cx="21945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Analytics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11880" y="4919472"/>
            <a:ext cx="3429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Community 5.18</a:t>
            </a:r>
            <a:endParaRPr lang="en-US" sz="1070" dirty="0"/>
          </a:p>
        </p:txBody>
      </p:sp>
      <p:sp>
        <p:nvSpPr>
          <p:cNvPr id="43" name="Text 41"/>
          <p:cNvSpPr/>
          <p:nvPr/>
        </p:nvSpPr>
        <p:spPr>
          <a:xfrm>
            <a:off x="7223760" y="4919472"/>
            <a:ext cx="437083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 graph &amp; PageRank</a:t>
            </a:r>
            <a:endParaRPr lang="en-US" sz="1030" dirty="0"/>
          </a:p>
        </p:txBody>
      </p:sp>
      <p:sp>
        <p:nvSpPr>
          <p:cNvPr id="44" name="Shape 42"/>
          <p:cNvSpPr/>
          <p:nvPr/>
        </p:nvSpPr>
        <p:spPr>
          <a:xfrm>
            <a:off x="548640" y="5381244"/>
            <a:ext cx="11091672" cy="461772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5381244"/>
            <a:ext cx="3657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234440" y="5381244"/>
            <a:ext cx="21945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611880" y="5381244"/>
            <a:ext cx="3429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&amp; Plotly</a:t>
            </a:r>
            <a:endParaRPr lang="en-US" sz="1070" dirty="0"/>
          </a:p>
        </p:txBody>
      </p:sp>
      <p:sp>
        <p:nvSpPr>
          <p:cNvPr id="48" name="Text 46"/>
          <p:cNvSpPr/>
          <p:nvPr/>
        </p:nvSpPr>
        <p:spPr>
          <a:xfrm>
            <a:off x="7223760" y="5381244"/>
            <a:ext cx="437083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KPI view &amp; thread explorer</a:t>
            </a:r>
            <a:endParaRPr lang="en-US" sz="1030" dirty="0"/>
          </a:p>
        </p:txBody>
      </p:sp>
      <p:sp>
        <p:nvSpPr>
          <p:cNvPr id="49" name="Shape 47"/>
          <p:cNvSpPr/>
          <p:nvPr/>
        </p:nvSpPr>
        <p:spPr>
          <a:xfrm>
            <a:off x="548640" y="1691640"/>
            <a:ext cx="11091672" cy="4151376"/>
          </a:xfrm>
          <a:prstGeom prst="rect">
            <a:avLst/>
          </a:prstGeom>
          <a:ln w="12700">
            <a:solidFill>
              <a:srgbClr val="E3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HYDERABAD  ·  DIPLOMA IN BIG DATA ANALYTICS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RELIABILITY ENGINEERING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8-Stage Data Quality, Validation &amp; Reliability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310896" cy="310896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18105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21671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Pydantic Field Checks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441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contract: required fields, types, length (1–5000 chars)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64408" y="169164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1568" y="1828800"/>
            <a:ext cx="310896" cy="310896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12" name="Text 10"/>
          <p:cNvSpPr/>
          <p:nvPr/>
        </p:nvSpPr>
        <p:spPr>
          <a:xfrm>
            <a:off x="3401568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94760" y="18105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01568" y="21671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UTF-8 Serialization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01568" y="2441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payload serializability &amp; encoding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80176" y="169164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17336" y="1828800"/>
            <a:ext cx="310896" cy="310896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18" name="Text 16"/>
          <p:cNvSpPr/>
          <p:nvPr/>
        </p:nvSpPr>
        <p:spPr>
          <a:xfrm>
            <a:off x="6117336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10528" y="18105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17336" y="21671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 Delivery Guarantee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17336" y="2441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acks='all', retries=3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695944" y="169164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33104" y="1828800"/>
            <a:ext cx="310896" cy="310896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24" name="Text 22"/>
          <p:cNvSpPr/>
          <p:nvPr/>
        </p:nvSpPr>
        <p:spPr>
          <a:xfrm>
            <a:off x="8833104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26296" y="18105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VALIDATION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833104" y="21671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Byte Stream Decoding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33104" y="2441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 raw bytes into valid UTF-8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2852928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2990088"/>
            <a:ext cx="310896" cy="310896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78992" y="29718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VALIDATION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5800" y="3328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StructType Schema Match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85800" y="36027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schema types, handles nulls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64408" y="2852928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01568" y="2990088"/>
            <a:ext cx="310896" cy="310896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36" name="Text 34"/>
          <p:cNvSpPr/>
          <p:nvPr/>
        </p:nvSpPr>
        <p:spPr>
          <a:xfrm>
            <a:off x="3401568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794760" y="29718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VALIDATION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01568" y="3328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 Pydantic Re-Check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401568" y="36027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Re-validates inside Spark worker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980176" y="2852928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17336" y="2990088"/>
            <a:ext cx="310896" cy="310896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42" name="Text 40"/>
          <p:cNvSpPr/>
          <p:nvPr/>
        </p:nvSpPr>
        <p:spPr>
          <a:xfrm>
            <a:off x="6117336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510528" y="29718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117336" y="3328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Text Normalization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117336" y="36027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NFKD, URL &amp; emoji cleanup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695944" y="2852928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33104" y="2990088"/>
            <a:ext cx="310896" cy="310896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48" name="Text 46"/>
          <p:cNvSpPr/>
          <p:nvPr/>
        </p:nvSpPr>
        <p:spPr>
          <a:xfrm>
            <a:off x="8833104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226296" y="29718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833104" y="3328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DLQ Isolation Gate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833104" y="36027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→ Atlas; rejected → DLQ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48640" y="4151376"/>
            <a:ext cx="11091672" cy="128016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SILENT DATA LOSS ARCHITECTURE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68680" y="4608576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failing any of the 8 pipeline stages is intercepted and routed to a validation_errors document, capturing the raw payload, exact error message, error stage, and UTC timestamp — giving 100% auditability across the streaming lifecycle.</a:t>
            </a:r>
            <a:endParaRPr lang="en-US" sz="1080" dirty="0"/>
          </a:p>
        </p:txBody>
      </p:sp>
      <p:sp>
        <p:nvSpPr>
          <p:cNvPr id="55" name="Text 53"/>
          <p:cNvSpPr/>
          <p:nvPr/>
        </p:nvSpPr>
        <p:spPr>
          <a:xfrm>
            <a:off x="9326880" y="4352544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0.00%</a:t>
            </a:r>
            <a:endParaRPr lang="en-US" sz="3400" dirty="0"/>
          </a:p>
        </p:txBody>
      </p:sp>
      <p:sp>
        <p:nvSpPr>
          <p:cNvPr id="56" name="Text 54"/>
          <p:cNvSpPr/>
          <p:nvPr/>
        </p:nvSpPr>
        <p:spPr>
          <a:xfrm>
            <a:off x="9326880" y="5084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rate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HYDERABAD  ·  DIPLOMA IN BIG DATA ANALYTICS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 ENGINE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Vector AI + Cloud LLM Intelligence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2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84248"/>
            <a:ext cx="128016" cy="384048"/>
          </a:xfrm>
          <a:prstGeom prst="roundRect">
            <a:avLst>
              <a:gd name="adj" fmla="val 21429"/>
            </a:avLst>
          </a:prstGeom>
          <a:solidFill>
            <a:srgbClr val="12B8B0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Vector AI · EmbeddingGemma-300M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1248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070" dirty="0"/>
          </a:p>
        </p:txBody>
      </p:sp>
      <p:sp>
        <p:nvSpPr>
          <p:cNvPr id="8" name="Text 6"/>
          <p:cNvSpPr/>
          <p:nvPr/>
        </p:nvSpPr>
        <p:spPr>
          <a:xfrm>
            <a:off x="2286000" y="2651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4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google/embeddinggemma-300m via HuggingFace SentenceTransformer.</a:t>
            </a:r>
            <a:endParaRPr lang="en-US" sz="1040" dirty="0"/>
          </a:p>
        </p:txBody>
      </p:sp>
      <p:sp>
        <p:nvSpPr>
          <p:cNvPr id="9" name="Text 7"/>
          <p:cNvSpPr/>
          <p:nvPr/>
        </p:nvSpPr>
        <p:spPr>
          <a:xfrm>
            <a:off x="841248" y="32186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Execution:</a:t>
            </a:r>
            <a:endParaRPr lang="en-US" sz="1070" dirty="0"/>
          </a:p>
        </p:txBody>
      </p:sp>
      <p:sp>
        <p:nvSpPr>
          <p:cNvPr id="10" name="Text 8"/>
          <p:cNvSpPr/>
          <p:nvPr/>
        </p:nvSpPr>
        <p:spPr>
          <a:xfrm>
            <a:off x="2286000" y="32186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4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CPU (torch.set_num_threads(4)) at zero API cost.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841248" y="37856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Dimensionality:</a:t>
            </a:r>
            <a:endParaRPr lang="en-US" sz="1070" dirty="0"/>
          </a:p>
        </p:txBody>
      </p:sp>
      <p:sp>
        <p:nvSpPr>
          <p:cNvPr id="12" name="Text 10"/>
          <p:cNvSpPr/>
          <p:nvPr/>
        </p:nvSpPr>
        <p:spPr>
          <a:xfrm>
            <a:off x="2286000" y="378561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4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768-dimensional dense continuous vectors.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841248" y="435254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2286000" y="43525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4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Micro-batch vector encoding handles batches in milliseconds.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841248" y="49194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Type: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2286000" y="49194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4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HNSW graph via ChromaDB, cosine distance metric.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841248" y="5486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2286000" y="5486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4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semantic similarity search across the corpus.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6263640" y="169164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0B1F3A"/>
          </a:solidFill>
          <a:ln/>
        </p:spPr>
      </p:sp>
      <p:sp>
        <p:nvSpPr>
          <p:cNvPr id="20" name="Shape 18"/>
          <p:cNvSpPr/>
          <p:nvPr/>
        </p:nvSpPr>
        <p:spPr>
          <a:xfrm>
            <a:off x="6556248" y="1984248"/>
            <a:ext cx="128016" cy="384048"/>
          </a:xfrm>
          <a:prstGeom prst="roundRect">
            <a:avLst>
              <a:gd name="adj" fmla="val 21429"/>
            </a:avLst>
          </a:prstGeom>
          <a:solidFill>
            <a:srgbClr val="FF6B4A"/>
          </a:solidFill>
          <a:ln/>
        </p:spPr>
      </p:sp>
      <p:sp>
        <p:nvSpPr>
          <p:cNvPr id="21" name="Text 19"/>
          <p:cNvSpPr/>
          <p:nvPr/>
        </p:nvSpPr>
        <p:spPr>
          <a:xfrm>
            <a:off x="679399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LLM AI · Groq LPU Engine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556248" y="2606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809244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4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llama-3.3-70b-versatile, fallback llama-3.1-8b-instant.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6556248" y="30906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LPU Speed: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8092440" y="30906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4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300ms response latency per message classification.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6556248" y="35753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JSON:</a:t>
            </a:r>
            <a:endParaRPr lang="en-US" sz="1070" dirty="0"/>
          </a:p>
        </p:txBody>
      </p:sp>
      <p:sp>
        <p:nvSpPr>
          <p:cNvPr id="27" name="Text 25"/>
          <p:cNvSpPr/>
          <p:nvPr/>
        </p:nvSpPr>
        <p:spPr>
          <a:xfrm>
            <a:off x="8092440" y="35753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4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response_format={'type':'json_object'} for structured output.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6556248" y="40599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Protection:</a:t>
            </a:r>
            <a:endParaRPr lang="en-US" sz="1070" dirty="0"/>
          </a:p>
        </p:txBody>
      </p:sp>
      <p:sp>
        <p:nvSpPr>
          <p:cNvPr id="29" name="Text 27"/>
          <p:cNvSpPr/>
          <p:nvPr/>
        </p:nvSpPr>
        <p:spPr>
          <a:xfrm>
            <a:off x="8092440" y="40599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4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8.0-second hard timeout prevents pipeline blocking.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6556248" y="4654296"/>
            <a:ext cx="4764024" cy="1143000"/>
          </a:xfrm>
          <a:prstGeom prst="roundRect">
            <a:avLst>
              <a:gd name="adj" fmla="val 4000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4745736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9FE8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9FE8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"detected_topic_name": "Career &amp; Aviation Inquiries",</a:t>
            </a:r>
            <a:endParaRPr lang="en-US" sz="8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9FE8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"topic_keywords": ["Air Traffic Controller", "B.Tech"],</a:t>
            </a:r>
            <a:endParaRPr lang="en-US" sz="8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9FE8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"summary_intent": "User is inquiring about ATC roles."</a:t>
            </a:r>
            <a:endParaRPr lang="en-US" sz="8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9FE8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HYDERABAD  ·  DIPLOMA IN BIG DATA ANALYTICS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CLASSIFICATION &amp; SOCIAL GRAPH INTELLIGENCE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 Inference &amp; Neo4j Graph Analytics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Cosine Similarity Decision Boundaries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22199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S(u,v) = (u · v) / (‖u‖ × ‖v‖)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0604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TOPIC_SHIFT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2377440" y="26060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&lt; 0.45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11880" y="2606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semantic alignment — conversation digressed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822960" y="3008376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0A82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00837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ELABORATION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2377440" y="30083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 ≤ S &lt; 0.70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1880" y="30083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alignment — child expands on parent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822960" y="341071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2B8B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41071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CONTINUATION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2377440" y="34107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≥ 0.70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11880" y="34107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alignment — child directly continues parent topic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14223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 Social Weight Formulation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44531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B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W(A→B) = ReplyCount(A→B) × (1.0 + mean(Cosine Similarity))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48006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structural reply frequency with semantic alignment quality to score every author-to-author edge — directly feeding the Neo4j INTERACTED_WITH edge weight.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626364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18745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Neo4j Property Graph &amp; Analytics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812280" y="2377440"/>
            <a:ext cx="960120" cy="548640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23774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823960" y="2377440"/>
            <a:ext cx="960120" cy="5486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8" name="Text 26"/>
          <p:cNvSpPr/>
          <p:nvPr/>
        </p:nvSpPr>
        <p:spPr>
          <a:xfrm>
            <a:off x="8823960" y="23774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835640" y="2377440"/>
            <a:ext cx="960120" cy="548640"/>
          </a:xfrm>
          <a:prstGeom prst="ellipse">
            <a:avLst/>
          </a:prstGeom>
          <a:solidFill>
            <a:srgbClr val="E0A82E"/>
          </a:solidFill>
          <a:ln/>
        </p:spPr>
      </p:sp>
      <p:sp>
        <p:nvSpPr>
          <p:cNvPr id="30" name="Text 28"/>
          <p:cNvSpPr/>
          <p:nvPr/>
        </p:nvSpPr>
        <p:spPr>
          <a:xfrm>
            <a:off x="10835640" y="23774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99832" y="21214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→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9811512" y="21214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PARTICIPATED_IN →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6537960" y="31546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REPLIES_TO (Comment→Comment)   ·   INTERACTED_WITH {weight} (User→User)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37960" y="3611880"/>
            <a:ext cx="310896" cy="310896"/>
          </a:xfrm>
          <a:prstGeom prst="ellipse">
            <a:avLst/>
          </a:prstGeom>
          <a:solidFill>
            <a:srgbClr val="E6F8F6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3602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76872" y="358444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PageRank Centrality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76872" y="385876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PR(u) = (1-d)/N + d·Σ PR(v)/L(v), d = 0.85 — identifies key opinion leaders and influential users.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6537960" y="4480560"/>
            <a:ext cx="310896" cy="310896"/>
          </a:xfrm>
          <a:prstGeom prst="ellipse">
            <a:avLst/>
          </a:prstGeom>
          <a:solidFill>
            <a:srgbClr val="E6F8F6"/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4471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76872" y="44531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Louvain Community Detection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76872" y="472744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users into natural conversational communities based on modularity Q optimization.</a:t>
            </a:r>
            <a:endParaRPr lang="en-US" sz="96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HYDERABAD  ·  DIPLOMA IN BIG DATA ANALYTICS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STRATEGY &amp; ANALYTICS EXPERIENCE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Dual-Sink Persistence &amp; the Streamlit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74520"/>
            <a:ext cx="109728" cy="329184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3794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1 · Local MongoDB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49808" y="231343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raw_messages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49808" y="260604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archive &amp; development storage — immutable landing zone holding the full raw corpus of 765,941 records at $0 cost.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206240" y="169164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874520"/>
            <a:ext cx="109728" cy="329184"/>
          </a:xfrm>
          <a:prstGeom prst="roundRect">
            <a:avLst>
              <a:gd name="adj" fmla="val 16667"/>
            </a:avLst>
          </a:prstGeom>
          <a:solidFill>
            <a:srgbClr val="12B8B0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83794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2 · MongoDB Atlas Cloud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07408" y="231343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B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context-modeling.messages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07408" y="260604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operational source of truth — one Atlas cluster used by the whole team, holding 100% validated, 768D-embedded, LLM-enriched records (~75% payload trimmed for quota).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863840" y="169164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65008" y="1874520"/>
            <a:ext cx="109728" cy="329184"/>
          </a:xfrm>
          <a:prstGeom prst="roundRect">
            <a:avLst>
              <a:gd name="adj" fmla="val 16667"/>
            </a:avLst>
          </a:prstGeom>
          <a:solidFill>
            <a:srgbClr val="FF6B4A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83794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3 · MongoDB Atlas Cloud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065008" y="231343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validation_errors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65008" y="260604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Dead Letter Queue isolating rejected records with full audit reason.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48640" y="363016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Asynchronous Neo4j Graph Sync — real-time, non-blocking synchronization of interaction weights to the graph store, decoupled from the primary write path.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11091672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MULTI-PAGE ANALYTICS DASHBOARD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3520440" cy="1371600"/>
          </a:xfrm>
          <a:prstGeom prst="roundRect">
            <a:avLst>
              <a:gd name="adj" fmla="val 4667"/>
            </a:avLst>
          </a:prstGeom>
          <a:solidFill>
            <a:srgbClr val="0B1F3A"/>
          </a:solidFill>
          <a:ln/>
        </p:spPr>
      </p:sp>
      <p:sp>
        <p:nvSpPr>
          <p:cNvPr id="23" name="Shape 21"/>
          <p:cNvSpPr/>
          <p:nvPr/>
        </p:nvSpPr>
        <p:spPr>
          <a:xfrm>
            <a:off x="749808" y="4846320"/>
            <a:ext cx="347472" cy="347472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4837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48097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&amp; KPI Analytics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" y="5321808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throughput, topic distribution treemaps, and intent breakdown at a glance.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206240" y="4663440"/>
            <a:ext cx="3520440" cy="1371600"/>
          </a:xfrm>
          <a:prstGeom prst="roundRect">
            <a:avLst>
              <a:gd name="adj" fmla="val 4667"/>
            </a:avLst>
          </a:prstGeom>
          <a:solidFill>
            <a:srgbClr val="0B1F3A"/>
          </a:solidFill>
          <a:ln/>
        </p:spPr>
      </p:sp>
      <p:sp>
        <p:nvSpPr>
          <p:cNvPr id="28" name="Shape 26"/>
          <p:cNvSpPr/>
          <p:nvPr/>
        </p:nvSpPr>
        <p:spPr>
          <a:xfrm>
            <a:off x="4407408" y="4846320"/>
            <a:ext cx="347472" cy="347472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29" name="Text 27"/>
          <p:cNvSpPr/>
          <p:nvPr/>
        </p:nvSpPr>
        <p:spPr>
          <a:xfrm>
            <a:off x="4407408" y="4837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92040" y="48097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Thread Explorer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07408" y="5321808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WhatsApp-style interactive visual tree view of reply conversations.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863840" y="4663440"/>
            <a:ext cx="3520440" cy="1371600"/>
          </a:xfrm>
          <a:prstGeom prst="roundRect">
            <a:avLst>
              <a:gd name="adj" fmla="val 4667"/>
            </a:avLst>
          </a:prstGeom>
          <a:solidFill>
            <a:srgbClr val="0B1F3A"/>
          </a:solidFill>
          <a:ln/>
        </p:spPr>
      </p:sp>
      <p:sp>
        <p:nvSpPr>
          <p:cNvPr id="33" name="Shape 31"/>
          <p:cNvSpPr/>
          <p:nvPr/>
        </p:nvSpPr>
        <p:spPr>
          <a:xfrm>
            <a:off x="8065008" y="4846320"/>
            <a:ext cx="347472" cy="347472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34" name="Text 32"/>
          <p:cNvSpPr/>
          <p:nvPr/>
        </p:nvSpPr>
        <p:spPr>
          <a:xfrm>
            <a:off x="8065008" y="4837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49640" y="48097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Graph &amp; Influence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65008" y="5321808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leaderboard and Louvain community visualizations.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HYDERABAD  ·  DIPLOMA IN BIG DATA ANALYTICS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Benchmarking: Baseline vs. Upgraded Pipeline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35204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206240" y="1645920"/>
          <a:ext cx="35204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7863840" y="1645920"/>
          <a:ext cx="35204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548640" y="4160520"/>
            <a:ext cx="11091672" cy="384048"/>
          </a:xfrm>
          <a:prstGeom prst="roundRect">
            <a:avLst>
              <a:gd name="adj" fmla="val 11905"/>
            </a:avLst>
          </a:prstGeom>
          <a:solidFill>
            <a:srgbClr val="0B1F3A"/>
          </a:solidFill>
          <a:ln/>
        </p:spPr>
      </p:sp>
      <p:sp>
        <p:nvSpPr>
          <p:cNvPr id="8" name="Text 3"/>
          <p:cNvSpPr/>
          <p:nvPr/>
        </p:nvSpPr>
        <p:spPr>
          <a:xfrm>
            <a:off x="685800" y="41605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50" dirty="0"/>
          </a:p>
        </p:txBody>
      </p:sp>
      <p:sp>
        <p:nvSpPr>
          <p:cNvPr id="9" name="Text 4"/>
          <p:cNvSpPr/>
          <p:nvPr/>
        </p:nvSpPr>
        <p:spPr>
          <a:xfrm>
            <a:off x="3063240" y="4160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5806440" y="41605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UPGRADED PIPELINE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9098280" y="4160520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/ IMPACT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548640" y="4544568"/>
            <a:ext cx="1109167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8"/>
          <p:cNvSpPr/>
          <p:nvPr/>
        </p:nvSpPr>
        <p:spPr>
          <a:xfrm>
            <a:off x="685800" y="45445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Precision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3063240" y="45445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62.4% (Rule-based)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5806440" y="45445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 (Groq Llama-3.3-70B)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9098280" y="454456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+36.8% precision jump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48640" y="5001768"/>
            <a:ext cx="11091672" cy="4572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18" name="Text 13"/>
          <p:cNvSpPr/>
          <p:nvPr/>
        </p:nvSpPr>
        <p:spPr>
          <a:xfrm>
            <a:off x="685800" y="50017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Rate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063240" y="5001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4.8% silent loss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806440" y="50017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0.00% (DLQ isolation)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9098280" y="500176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audit guarantee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48640" y="5458968"/>
            <a:ext cx="1109167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18"/>
          <p:cNvSpPr/>
          <p:nvPr/>
        </p:nvSpPr>
        <p:spPr>
          <a:xfrm>
            <a:off x="685800" y="54589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Dimensions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063240" y="54589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(Sparse TF-IDF)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5806440" y="5458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(Dense EmbeddingGemma)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9098280" y="545896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 semantic depth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48640" y="4160520"/>
            <a:ext cx="11091672" cy="1755648"/>
          </a:xfrm>
          <a:prstGeom prst="rect">
            <a:avLst/>
          </a:prstGeom>
          <a:ln w="12700">
            <a:solidFill>
              <a:srgbClr val="E3E8F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HYDERABAD  ·  DIPLOMA IN BIG DATA ANALYTICS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01" name="Benchmark Methodology Caption"/>
          <p:cNvSpPr/>
          <p:nvPr/>
        </p:nvSpPr>
        <p:spPr>
          <a:xfrm>
            <a:off x="548640" y="6002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Micro-Batch #0, 118 real-world conversational records processed end-to-end on the full stack (Kafka + PySpark + EmbeddingGemma-300M + Groq Llama-3.3-70B + MongoDB Atlas + Neo4j). Latency = ingestion→persistence per record; throughput = records processed/sec for the batch.</a:t>
            </a:r>
            <a:endParaRPr lang="en-US" sz="10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Value, Risk Mitigation &amp; What's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ADVANTAGES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2075688"/>
            <a:ext cx="256032" cy="256032"/>
          </a:xfrm>
          <a:prstGeom prst="ellipse">
            <a:avLst/>
          </a:prstGeom>
          <a:solidFill>
            <a:srgbClr val="E6F8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75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02996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Silent Data Loss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22860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records are routed to an isolated DLQ, not silently discarded.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256032" cy="256032"/>
          </a:xfrm>
          <a:prstGeom prst="ellipse">
            <a:avLst/>
          </a:prstGeom>
          <a:solidFill>
            <a:srgbClr val="E6F8F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06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256032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Sub-Second Latency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281635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0.38s/msg processing enables real-time analytics.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548640" y="3136392"/>
            <a:ext cx="256032" cy="256032"/>
          </a:xfrm>
          <a:prstGeom prst="ellipse">
            <a:avLst/>
          </a:prstGeom>
          <a:solidFill>
            <a:srgbClr val="E6F8F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36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" y="309067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Topic Accuracy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" y="334670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 precision with Groq Llama-3.3-70B.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548640" y="3666744"/>
            <a:ext cx="256032" cy="256032"/>
          </a:xfrm>
          <a:prstGeom prst="ellipse">
            <a:avLst/>
          </a:prstGeom>
          <a:solidFill>
            <a:srgbClr val="E6F8F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66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" y="362102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Infrastructure Cost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6112" y="387705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CPU-based EmbeddingGemma vector generation.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6263640" y="169164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2075688"/>
            <a:ext cx="256032" cy="256032"/>
          </a:xfrm>
          <a:prstGeom prst="ellipse">
            <a:avLst/>
          </a:prstGeom>
          <a:solidFill>
            <a:srgbClr val="FFECE7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2075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11112" y="202996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API Rate Limits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11112" y="22860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 by 8.0s timeout &amp; heuristic fallback.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6263640" y="2606040"/>
            <a:ext cx="256032" cy="256032"/>
          </a:xfrm>
          <a:prstGeom prst="ellipse">
            <a:avLst/>
          </a:prstGeom>
          <a:solidFill>
            <a:srgbClr val="FFECE7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2606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11112" y="256032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Storage Quotas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11112" y="281635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 by 75% field trimming &amp; hybrid storage.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6263640" y="3136392"/>
            <a:ext cx="256032" cy="256032"/>
          </a:xfrm>
          <a:prstGeom prst="ellipse">
            <a:avLst/>
          </a:prstGeom>
          <a:solidFill>
            <a:srgbClr val="FFECE7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3136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11112" y="309067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Privacy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11112" y="334670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via field masking &amp; Unicode normalization.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548640" y="4462272"/>
            <a:ext cx="11091672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 &amp; STRATEGIC EXTENSIONS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956048"/>
            <a:ext cx="2084832" cy="1234440"/>
          </a:xfrm>
          <a:prstGeom prst="roundRect">
            <a:avLst>
              <a:gd name="adj" fmla="val 4444"/>
            </a:avLst>
          </a:prstGeom>
          <a:solidFill>
            <a:srgbClr val="0B1F3A"/>
          </a:solidFill>
          <a:ln/>
        </p:spPr>
      </p:sp>
      <p:sp>
        <p:nvSpPr>
          <p:cNvPr id="37" name="Shape 35"/>
          <p:cNvSpPr/>
          <p:nvPr/>
        </p:nvSpPr>
        <p:spPr>
          <a:xfrm>
            <a:off x="713232" y="5120640"/>
            <a:ext cx="292608" cy="292608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" y="5111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5800" y="550468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Disk-Backed Vector Persistence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2743200" y="4956048"/>
            <a:ext cx="2084832" cy="1234440"/>
          </a:xfrm>
          <a:prstGeom prst="roundRect">
            <a:avLst>
              <a:gd name="adj" fmla="val 4444"/>
            </a:avLst>
          </a:prstGeom>
          <a:solidFill>
            <a:srgbClr val="0B1F3A"/>
          </a:solidFill>
          <a:ln/>
        </p:spPr>
      </p:sp>
      <p:sp>
        <p:nvSpPr>
          <p:cNvPr id="41" name="Shape 39"/>
          <p:cNvSpPr/>
          <p:nvPr/>
        </p:nvSpPr>
        <p:spPr>
          <a:xfrm>
            <a:off x="2907792" y="5120640"/>
            <a:ext cx="292608" cy="292608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42" name="Text 40"/>
          <p:cNvSpPr/>
          <p:nvPr/>
        </p:nvSpPr>
        <p:spPr>
          <a:xfrm>
            <a:off x="2907792" y="5111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880360" y="550468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Conversational NLP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4937760" y="4956048"/>
            <a:ext cx="2084832" cy="1234440"/>
          </a:xfrm>
          <a:prstGeom prst="roundRect">
            <a:avLst>
              <a:gd name="adj" fmla="val 4444"/>
            </a:avLst>
          </a:prstGeom>
          <a:solidFill>
            <a:srgbClr val="0B1F3A"/>
          </a:solidFill>
          <a:ln/>
        </p:spPr>
      </p:sp>
      <p:sp>
        <p:nvSpPr>
          <p:cNvPr id="45" name="Shape 43"/>
          <p:cNvSpPr/>
          <p:nvPr/>
        </p:nvSpPr>
        <p:spPr>
          <a:xfrm>
            <a:off x="5102352" y="5120640"/>
            <a:ext cx="292608" cy="292608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46" name="Text 44"/>
          <p:cNvSpPr/>
          <p:nvPr/>
        </p:nvSpPr>
        <p:spPr>
          <a:xfrm>
            <a:off x="5102352" y="5111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074920" y="550468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GraphQL API Layer</a:t>
            </a:r>
            <a:endParaRPr lang="en-US" sz="960" dirty="0"/>
          </a:p>
        </p:txBody>
      </p:sp>
      <p:sp>
        <p:nvSpPr>
          <p:cNvPr id="48" name="Shape 46"/>
          <p:cNvSpPr/>
          <p:nvPr/>
        </p:nvSpPr>
        <p:spPr>
          <a:xfrm>
            <a:off x="7132320" y="4956048"/>
            <a:ext cx="2084832" cy="1234440"/>
          </a:xfrm>
          <a:prstGeom prst="roundRect">
            <a:avLst>
              <a:gd name="adj" fmla="val 4444"/>
            </a:avLst>
          </a:prstGeom>
          <a:solidFill>
            <a:srgbClr val="0B1F3A"/>
          </a:solidFill>
          <a:ln/>
        </p:spPr>
      </p:sp>
      <p:sp>
        <p:nvSpPr>
          <p:cNvPr id="49" name="Shape 47"/>
          <p:cNvSpPr/>
          <p:nvPr/>
        </p:nvSpPr>
        <p:spPr>
          <a:xfrm>
            <a:off x="7296912" y="5120640"/>
            <a:ext cx="292608" cy="292608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50" name="Text 48"/>
          <p:cNvSpPr/>
          <p:nvPr/>
        </p:nvSpPr>
        <p:spPr>
          <a:xfrm>
            <a:off x="7296912" y="5111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269480" y="550468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Cloud Auto-Scaling</a:t>
            </a:r>
            <a:endParaRPr lang="en-US" sz="960" dirty="0"/>
          </a:p>
        </p:txBody>
      </p:sp>
      <p:sp>
        <p:nvSpPr>
          <p:cNvPr id="52" name="Shape 50"/>
          <p:cNvSpPr/>
          <p:nvPr/>
        </p:nvSpPr>
        <p:spPr>
          <a:xfrm>
            <a:off x="9326880" y="4956048"/>
            <a:ext cx="2084832" cy="1234440"/>
          </a:xfrm>
          <a:prstGeom prst="roundRect">
            <a:avLst>
              <a:gd name="adj" fmla="val 4444"/>
            </a:avLst>
          </a:prstGeom>
          <a:solidFill>
            <a:srgbClr val="0B1F3A"/>
          </a:solidFill>
          <a:ln/>
        </p:spPr>
      </p:sp>
      <p:sp>
        <p:nvSpPr>
          <p:cNvPr id="53" name="Shape 51"/>
          <p:cNvSpPr/>
          <p:nvPr/>
        </p:nvSpPr>
        <p:spPr>
          <a:xfrm>
            <a:off x="9491472" y="5120640"/>
            <a:ext cx="292608" cy="292608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54" name="Text 52"/>
          <p:cNvSpPr/>
          <p:nvPr/>
        </p:nvSpPr>
        <p:spPr>
          <a:xfrm>
            <a:off x="9491472" y="5111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9464040" y="550468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Alerting Engine</a:t>
            </a:r>
            <a:endParaRPr lang="en-US" sz="960" dirty="0"/>
          </a:p>
        </p:txBody>
      </p:sp>
      <p:sp>
        <p:nvSpPr>
          <p:cNvPr id="56" name="Text 5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HYDERABAD  ·  DIPLOMA IN BIG DATA ANALYTICS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-1554480"/>
            <a:ext cx="4206240" cy="4206240"/>
          </a:xfrm>
          <a:prstGeom prst="ellipse">
            <a:avLst/>
          </a:prstGeom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57400" y="-1508760"/>
            <a:ext cx="4114800" cy="4114800"/>
          </a:xfrm>
          <a:prstGeom prst="ellipse">
            <a:avLst/>
          </a:prstGeom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011680" y="-1463040"/>
            <a:ext cx="4023360" cy="4023360"/>
          </a:xfrm>
          <a:prstGeom prst="ellipse">
            <a:avLst/>
          </a:prstGeom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965960" y="-1417320"/>
            <a:ext cx="3931920" cy="3931920"/>
          </a:xfrm>
          <a:prstGeom prst="ellipse">
            <a:avLst/>
          </a:prstGeom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920240" y="-1371600"/>
            <a:ext cx="3840480" cy="3840480"/>
          </a:xfrm>
          <a:prstGeom prst="ellipse">
            <a:avLst/>
          </a:prstGeom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522476" y="3246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Conversational Context Modeling &amp; Social Relationship Intelligence Platform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80076" y="3977640"/>
            <a:ext cx="1828800" cy="0"/>
          </a:xfrm>
          <a:prstGeom prst="line">
            <a:avLst/>
          </a:prstGeom>
          <a:noFill/>
          <a:ln w="25400">
            <a:solidFill>
              <a:srgbClr val="12B8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2B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522476" y="5212080"/>
            <a:ext cx="1755648" cy="502920"/>
          </a:xfrm>
          <a:prstGeom prst="roundRect">
            <a:avLst>
              <a:gd name="adj" fmla="val 10909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68196" y="521208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FE8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docker compose up -d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3369564" y="5212080"/>
            <a:ext cx="1755648" cy="502920"/>
          </a:xfrm>
          <a:prstGeom prst="roundRect">
            <a:avLst>
              <a:gd name="adj" fmla="val 10909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5284" y="521208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FE8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ingest_to_local_mongo.py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5216652" y="5212080"/>
            <a:ext cx="1755648" cy="502920"/>
          </a:xfrm>
          <a:prstGeom prst="roundRect">
            <a:avLst>
              <a:gd name="adj" fmla="val 10909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62372" y="521208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FE8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python -m spark.spark_consumer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7063740" y="5212080"/>
            <a:ext cx="1755648" cy="502920"/>
          </a:xfrm>
          <a:prstGeom prst="roundRect">
            <a:avLst>
              <a:gd name="adj" fmla="val 10909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09460" y="521208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FE8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python -m kafka_pipeline.producer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8910828" y="5212080"/>
            <a:ext cx="1755648" cy="502920"/>
          </a:xfrm>
          <a:prstGeom prst="roundRect">
            <a:avLst>
              <a:gd name="adj" fmla="val 10909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56548" y="521208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FE8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streamlit run dashboard/app.py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0" y="5852160"/>
            <a:ext cx="12188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6D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EXECUTION FLOW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0" y="63550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HYDERABAD  ·  DIPLOMA IN BIG DATA ANALYTICS  ·  TEAM LEAD: OMROHIT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MESSAGE-LEVEL VALIDATION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Single Message is Validated, End-to-End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755648" cy="1828800"/>
          </a:xfrm>
          <a:prstGeom prst="roundRect">
            <a:avLst>
              <a:gd name="adj" fmla="val 3646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95681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22128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Incoming Message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27432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input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JSON payload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comment_id, author, message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 rot="5400000">
            <a:off x="2302002" y="2660904"/>
            <a:ext cx="128016" cy="164592"/>
          </a:xfrm>
          <a:prstGeom prst="triangle">
            <a:avLst/>
          </a:prstGeom>
          <a:solidFill>
            <a:srgbClr val="12B8B0"/>
          </a:solidFill>
          <a:ln/>
        </p:spPr>
      </p:sp>
      <p:sp>
        <p:nvSpPr>
          <p:cNvPr id="9" name="Shape 7"/>
          <p:cNvSpPr/>
          <p:nvPr/>
        </p:nvSpPr>
        <p:spPr>
          <a:xfrm>
            <a:off x="2427732" y="1828800"/>
            <a:ext cx="1755648" cy="1828800"/>
          </a:xfrm>
          <a:prstGeom prst="roundRect">
            <a:avLst>
              <a:gd name="adj" fmla="val 3646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37460" y="195681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37460" y="22128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Pydantic Validation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537460" y="27432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MessageModel (v2)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Fields, types, business rules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 rot="5400000">
            <a:off x="4181094" y="2660904"/>
            <a:ext cx="128016" cy="164592"/>
          </a:xfrm>
          <a:prstGeom prst="triangle">
            <a:avLst/>
          </a:prstGeom>
          <a:solidFill>
            <a:srgbClr val="12B8B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06824" y="1828800"/>
            <a:ext cx="1755648" cy="1828800"/>
          </a:xfrm>
          <a:prstGeom prst="roundRect">
            <a:avLst>
              <a:gd name="adj" fmla="val 3646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16552" y="195681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16552" y="22128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416552" y="27432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acks='all', retries=3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 rot="5400000">
            <a:off x="6060186" y="2660904"/>
            <a:ext cx="128016" cy="164592"/>
          </a:xfrm>
          <a:prstGeom prst="triangle">
            <a:avLst/>
          </a:prstGeom>
          <a:solidFill>
            <a:srgbClr val="12B8B0"/>
          </a:solidFill>
          <a:ln/>
        </p:spPr>
      </p:sp>
      <p:sp>
        <p:nvSpPr>
          <p:cNvPr id="19" name="Shape 17"/>
          <p:cNvSpPr/>
          <p:nvPr/>
        </p:nvSpPr>
        <p:spPr>
          <a:xfrm>
            <a:off x="6185916" y="1828800"/>
            <a:ext cx="1755648" cy="1828800"/>
          </a:xfrm>
          <a:prstGeom prst="roundRect">
            <a:avLst>
              <a:gd name="adj" fmla="val 3646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5644" y="195681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95644" y="22128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Decode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95644" y="27432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 + StructType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decode, schema match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 rot="5400000">
            <a:off x="7939278" y="2660904"/>
            <a:ext cx="128016" cy="164592"/>
          </a:xfrm>
          <a:prstGeom prst="triangle">
            <a:avLst/>
          </a:prstGeom>
          <a:solidFill>
            <a:srgbClr val="12B8B0"/>
          </a:solidFill>
          <a:ln/>
        </p:spPr>
      </p:sp>
      <p:sp>
        <p:nvSpPr>
          <p:cNvPr id="24" name="Shape 22"/>
          <p:cNvSpPr/>
          <p:nvPr/>
        </p:nvSpPr>
        <p:spPr>
          <a:xfrm>
            <a:off x="8065008" y="1828800"/>
            <a:ext cx="1755648" cy="1828800"/>
          </a:xfrm>
          <a:prstGeom prst="roundRect">
            <a:avLst>
              <a:gd name="adj" fmla="val 3646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74736" y="195681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74736" y="22128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 Re-Validation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174736" y="27432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re-check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NLP normalization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 rot="5400000">
            <a:off x="9818370" y="2660904"/>
            <a:ext cx="128016" cy="164592"/>
          </a:xfrm>
          <a:prstGeom prst="triangle">
            <a:avLst/>
          </a:prstGeom>
          <a:solidFill>
            <a:srgbClr val="12B8B0"/>
          </a:solidFill>
          <a:ln/>
        </p:spPr>
      </p:sp>
      <p:sp>
        <p:nvSpPr>
          <p:cNvPr id="29" name="Shape 27"/>
          <p:cNvSpPr/>
          <p:nvPr/>
        </p:nvSpPr>
        <p:spPr>
          <a:xfrm>
            <a:off x="9944100" y="1828800"/>
            <a:ext cx="1755648" cy="1828800"/>
          </a:xfrm>
          <a:prstGeom prst="roundRect">
            <a:avLst>
              <a:gd name="adj" fmla="val 3646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3828" y="195681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053828" y="22128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0053828" y="27432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→ Atlas + Neo4j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→ DLQ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54864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PYDANTIC, AND WHAT HAPPENS WHEN A MESSAGE FAILS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398264"/>
            <a:ext cx="82296" cy="822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5" name="Text 33"/>
          <p:cNvSpPr/>
          <p:nvPr/>
        </p:nvSpPr>
        <p:spPr>
          <a:xfrm>
            <a:off x="768096" y="4297680"/>
            <a:ext cx="5129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Pydantic? It is the message contract at the producer boundary — checking required fields, datatypes, timestamp parsing, string constraints, and null handling.</a:t>
            </a:r>
            <a:endParaRPr lang="en-US" sz="1130" dirty="0"/>
          </a:p>
        </p:txBody>
      </p:sp>
      <p:sp>
        <p:nvSpPr>
          <p:cNvPr id="36" name="Shape 34"/>
          <p:cNvSpPr/>
          <p:nvPr/>
        </p:nvSpPr>
        <p:spPr>
          <a:xfrm>
            <a:off x="6263640" y="4398264"/>
            <a:ext cx="82296" cy="822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7" name="Text 35"/>
          <p:cNvSpPr/>
          <p:nvPr/>
        </p:nvSpPr>
        <p:spPr>
          <a:xfrm>
            <a:off x="6483096" y="4297680"/>
            <a:ext cx="5129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messages that satisfy the Pydantic model are serialized and published to Kafka — nothing malformed leaves the producer.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548640" y="5312664"/>
            <a:ext cx="82296" cy="822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9" name="Text 37"/>
          <p:cNvSpPr/>
          <p:nvPr/>
        </p:nvSpPr>
        <p:spPr>
          <a:xfrm>
            <a:off x="768096" y="5212080"/>
            <a:ext cx="5129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JSON, a missing field, or a schema mismatch is rejected at the exact stage it occurs — never passed downstream.</a:t>
            </a:r>
            <a:endParaRPr lang="en-US" sz="1130" dirty="0"/>
          </a:p>
        </p:txBody>
      </p:sp>
      <p:sp>
        <p:nvSpPr>
          <p:cNvPr id="40" name="Shape 38"/>
          <p:cNvSpPr/>
          <p:nvPr/>
        </p:nvSpPr>
        <p:spPr>
          <a:xfrm>
            <a:off x="6263640" y="5312664"/>
            <a:ext cx="82296" cy="822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1" name="Text 39"/>
          <p:cNvSpPr/>
          <p:nvPr/>
        </p:nvSpPr>
        <p:spPr>
          <a:xfrm>
            <a:off x="6483096" y="5212080"/>
            <a:ext cx="5129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lands in exactly one of two places — a verified sink or the DLQ — so nothing is silently dropped.</a:t>
            </a:r>
            <a:endParaRPr lang="en-US" sz="113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HYDERABAD  ·  DIPLOMA IN BIG DATA ANALYTICS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2026-08-09T11:48:05Z</dcterms:created>
  <dcterms:modified xsi:type="dcterms:W3CDTF">2026-08-09T11:48:05Z</dcterms:modified>
</cp:coreProperties>
</file>