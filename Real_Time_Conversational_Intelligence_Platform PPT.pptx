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End-to-End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Latency (s)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Latency (s)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Throughput (msgs/sec)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Throughput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Throughput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Calibri"/>
              </a:rPr>
              <a:t>PySpark RAM Footprint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RAM (GB)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Upgraded</c:v>
                </c:pt>
              </c:strCache>
            </c:strRef>
          </c:tx>
          <c:spPr>
            <a:solidFill>
              <a:srgbClr val="12B8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RAM (GB)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931920"/>
            <a:ext cx="4206240" cy="420624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3977640"/>
            <a:ext cx="4114800" cy="411480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023360"/>
            <a:ext cx="4023360" cy="402336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069080"/>
            <a:ext cx="3931920" cy="393192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4114800"/>
            <a:ext cx="3840480" cy="384048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3611880"/>
            <a:ext cx="128016" cy="12801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416052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5532120"/>
            <a:ext cx="128016" cy="12801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0" name="Shape 8"/>
          <p:cNvSpPr/>
          <p:nvPr/>
        </p:nvSpPr>
        <p:spPr>
          <a:xfrm>
            <a:off x="8915400" y="4892040"/>
            <a:ext cx="128016" cy="128016"/>
          </a:xfrm>
          <a:prstGeom prst="ellipse">
            <a:avLst/>
          </a:prstGeom>
          <a:solidFill>
            <a:srgbClr val="4C7BC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123444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Conversational Context Modeling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Social Relationship Intelligence Platform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enterprise-grade, event-driven streaming NLP pipeline with an 8-layer data quality framework, a hybrid local + cloud AI engine, and a Neo4j social-graph intelligence layer.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155802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42186" y="4160520"/>
            <a:ext cx="1530706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2186" y="4160520"/>
            <a:ext cx="1530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Streaming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9195" y="4160520"/>
            <a:ext cx="1680667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9195" y="4160520"/>
            <a:ext cx="1680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EmbeddingGemma-300M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6166" y="4160520"/>
            <a:ext cx="2055571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6166" y="4160520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· Llama-3.3-70B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48042" y="4160520"/>
            <a:ext cx="1230782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8042" y="4160520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25128" y="4160520"/>
            <a:ext cx="630936" cy="365760"/>
          </a:xfrm>
          <a:prstGeom prst="roundRect">
            <a:avLst>
              <a:gd name="adj" fmla="val 20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4160520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8778240" cy="0"/>
          </a:xfrm>
          <a:prstGeom prst="line">
            <a:avLst/>
          </a:prstGeom>
          <a:noFill/>
          <a:ln w="12700">
            <a:solidFill>
              <a:srgbClr val="2339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03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Umear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Omrohit (Lead)  ·  Srushti Bandewar  ·  Atharva  ·  Lishanth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 &amp; Core Platform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real-time conversational analysis across unstructured, high-velocity streaming feeds — Reddit, Slack, and Discord.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3288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streaming transport (Apache Kafka) with distributed consumer validation (PySpark Structured Streaming).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6557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 hybrid local-and-cloud AI pipeline: EmbeddingGemma-300M (768D, local) + Groq LPU Llama-3.3-70B.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1440" cy="914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98264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Dual-sink architecture writes verified enriched records to MongoDB Atlas Cloud while updating a Neo4j property graph.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463040"/>
            <a:ext cx="4206240" cy="48920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BENCHMARK ACHIEVEMENTS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/ message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2.62/s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32688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16 parallel workers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37856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keyword &amp; intent precision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46268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2688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reduction (9.6GB→600MB)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5468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26880" y="5522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data loss · isolated DLQ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Core Production Bottlenecks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Fragmentation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forms deep reply trees. Streaming chronologically detaches child replies from parent posts, breaking downstream topic comprehension.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907792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Payload Corruption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08960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feeds contain missing fields, unexpected nulls, non-UTF-8 characters, empty bodies, and malformed JSON that crash ML pipelines.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266944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68112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6811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68112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Thrashing &amp; OOM Crashes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68112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heavy PyTorch models inside individual PySpark workers creates massive RAM bloat (9.6GB/worker), triggering node crashes.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626096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27264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82726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27264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vs. Precision Tradeoffs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27264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models (LDA, TF-IDF) reach ~62% precision; instruction-tuned LLMs reach ~99% but add API latency and quota limits.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985248" y="1691640"/>
            <a:ext cx="2212848" cy="42976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86416" y="19476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8641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86416" y="256032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Quota Constraints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186416" y="3474720"/>
            <a:ext cx="1810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databases (MongoDB Atlas M0, 512MB) enforce strict quota boundaries, requiring hybrid local/cloud separation.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Objectives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&amp; Reliability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1248" y="265176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33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transport: Kafka pipeline with acks='all', retries=3.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41248" y="347472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data quality gate enforcing Pydantic validation end-to-end.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41248" y="429768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279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data loss: isolated Dead Letter Queue with audit logs.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41248" y="5120640"/>
            <a:ext cx="365760" cy="36576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16-worker parallelism via ThreadPoolExecutor micro-batching.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Graph &amp; Analytics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56248" y="265176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633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768D embeddings via EmbeddingGemma-300M at zero API cost.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556248" y="347472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3456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topic engine extracting structured JSON via Llama-3.3-70B.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556248" y="429768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279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inference: Continuation, Elaboration, or Topic-Shift.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556248" y="5120640"/>
            <a:ext cx="365760" cy="365760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51023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&amp; dashboard: Neo4j interaction graphs, Streamlit KPIs.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Storage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raw_messages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765,941 records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 rot="5400000">
            <a:off x="2302002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2427732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7460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7460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37460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L1 / L2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81094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6824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6552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16552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reddit_messages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60186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5916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5644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5644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95644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Streaming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ThreadPool workers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39278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65008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Enrichment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74736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 768D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Groq LPU JSON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18370" y="2660904"/>
            <a:ext cx="128016" cy="164592"/>
          </a:xfrm>
          <a:prstGeom prst="triangle">
            <a:avLst/>
          </a:prstGeom>
          <a:solidFill>
            <a:srgbClr val="12B8B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44100" y="1828800"/>
            <a:ext cx="1755648" cy="1828800"/>
          </a:xfrm>
          <a:prstGeom prst="roundRect">
            <a:avLst>
              <a:gd name="adj" fmla="val 3646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3828" y="195681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3828" y="22128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53828" y="27432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Neo4j + DLQ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 MATTERS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ingestion from processing, absorbing traffic spikes without back-pressure on producers.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263640" y="43982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42976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PySpark's 16-worker ThreadPool turns per-message inference into parallel micro-batches for throughput.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48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runs local (embeddings) and cloud (LLM) side-by-side, balancing cost, speed, and accuracy.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263640" y="531266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83096" y="5212080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lands in exactly one of two places — a verified sink or the DLQ — so nothing is silently dropped.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Component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1188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69164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(raw_database)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223760" y="2148840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 storage — 765,941 records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2610612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10612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10612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261061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3.5 (Docker)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223760" y="2610612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event log · acks='all', retries=3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72384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072384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Consumer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072384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 Structured Streaming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223760" y="3072384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processing, 16 workers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3534156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34156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534156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3534156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EmbeddingGemma-300M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7223760" y="3534156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local CPU vector generation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48640" y="3995928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95928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995928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11880" y="3995928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(Llama-3.3-70B)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7223760" y="3995928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topic &amp; intent extraction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48640" y="4457700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457700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4457700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1880" y="4457700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7223760" y="4457700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enriched message database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48640" y="4919472"/>
            <a:ext cx="11091672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919472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919472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11880" y="4919472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Community 5.18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7223760" y="4919472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graph &amp; PageRank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548640" y="5381244"/>
            <a:ext cx="11091672" cy="4617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381244"/>
            <a:ext cx="3657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5381244"/>
            <a:ext cx="2194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11880" y="5381244"/>
            <a:ext cx="3429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&amp; Plotly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7223760" y="5381244"/>
            <a:ext cx="437083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 view &amp; thread explorer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548640" y="1691640"/>
            <a:ext cx="11091672" cy="4151376"/>
          </a:xfrm>
          <a:prstGeom prst="rect">
            <a:avLst/>
          </a:prstGeom>
          <a:ln w="12700">
            <a:solidFill>
              <a:srgbClr val="E3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RELIABILITY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8-Layer Validation Gate &amp; Zero-Loss DLQ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PRE-KAFKA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Field Checks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comment_id, author, length (1–5000 chars)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PRE-KAFKA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UTF-8 Serialization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serializability &amp; encoding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611733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17336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Delivery Guarantee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17336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acks='all', retries=3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95944" y="16916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33104" y="1828800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883310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296" y="1810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33104" y="2167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 Stream Decoding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33104" y="2441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raw bytes into valid UTF-8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StructType Schema Match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schema types, handles nulls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64408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01568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6" name="Text 34"/>
          <p:cNvSpPr/>
          <p:nvPr/>
        </p:nvSpPr>
        <p:spPr>
          <a:xfrm>
            <a:off x="340156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94760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01568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Pydantic Re-Check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01568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Re-validates inside Spark worker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0176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2" name="Text 40"/>
          <p:cNvSpPr/>
          <p:nvPr/>
        </p:nvSpPr>
        <p:spPr>
          <a:xfrm>
            <a:off x="6117336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10528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17336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Text Normalization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117336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NFKD, URL &amp; emoji cleanup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95944" y="2852928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33104" y="2990088"/>
            <a:ext cx="310896" cy="310896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8" name="Text 46"/>
          <p:cNvSpPr/>
          <p:nvPr/>
        </p:nvSpPr>
        <p:spPr>
          <a:xfrm>
            <a:off x="8833104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26296" y="2971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33104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DLQ Isolation Gate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833104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Atlas; rejected → DLQ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151376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DATA LOSS ARCHITECTURE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68680" y="460857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failing any of the 8 validation layers is intercepted and routed to a validation_errors document, capturing the raw payload, exact error message, error stage, and UTC timestamp — giving 100% auditability across the streaming lifecycle.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9326880" y="435254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9326880" y="5084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rate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Vector AI + Cloud LLM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12B8B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Vector AI · EmbeddingGemma-300M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google/embeddinggemma-300m via HuggingFace SentenceTransformer.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841248" y="3218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Execution: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2286000" y="3218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(torch.set_num_threads(4)) at zero API cost.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41248" y="3785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Dimensionality: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2286000" y="37856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768-dimensional dense continuous vectors.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841248" y="43525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2286000" y="43525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vector encoding handles batches in milliseconds.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41248" y="4919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Type: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28600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HNSW graph via ChromaDB, cosine distance metric.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41248" y="5486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22860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semantic similarity search across the corpus.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1984248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LLM AI · Groq LPU Engine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56248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809244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llama-3.3-70b-versatile, fallback llama-3.1-8b-instant.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556248" y="3090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Speed: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809244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300ms response latency per message classification.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556248" y="3575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JSON: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8092440" y="3575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response_format={'type':'json_object'} for structured output.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556248" y="4059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Protection: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092440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8.0-second hard timeout prevents pipeline blocking.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556248" y="4654296"/>
            <a:ext cx="4764024" cy="1143000"/>
          </a:xfrm>
          <a:prstGeom prst="roundRect">
            <a:avLst>
              <a:gd name="adj" fmla="val 4000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745736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"detected_topic_name": "Career &amp; Aviation Inquiries",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"topic_keywords": ["Air Traffic Controller", "B.Tech"],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"summary_intent": "User is inquiring about ATC roles."</a:t>
            </a:r>
            <a:endParaRPr lang="en-US" sz="8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CLASSIFICATION &amp; SOCIAL GRAPH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Inference &amp; Neo4j Graph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Decision Boundaries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S(u,v) = (u · v) / (‖u‖ × ‖v‖)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TOPIC_SHIFT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0.45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semantic alignment — conversation digressed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22960" y="300837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083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377440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≤ S &lt; 0.70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3008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alignment — child expands on parent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22960" y="34107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07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2377440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≥ 0.70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34107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alignment — child directly continues parent topic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422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Social Weight Formulation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453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W(A→B) = ReplyCount(A→B) × (1.0 + mean(Cosine Similarity))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structural reply frequency with semantic alignment quality to score every author-to-author edge — directly feeding the Neo4j INTERACTED_WITH edge weight.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Property Graph &amp; Analytics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2377440"/>
            <a:ext cx="960120" cy="548640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23960" y="2377440"/>
            <a:ext cx="96012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835640" y="2377440"/>
            <a:ext cx="960120" cy="54864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835640" y="2377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99832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→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9811512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PARTICIPATED_IN →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6537960" y="31546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REPLIES_TO (Comment→Comment)   ·   INTERACTED_WITH {weight} (User→User)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3611880"/>
            <a:ext cx="310896" cy="310896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76872" y="35844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 Centrality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76872" y="38587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PR(u) = (1-d)/N + d·Σ PR(v)/L(v), d = 0.85 — identifies key opinion leaders and influential users.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537960" y="4480560"/>
            <a:ext cx="310896" cy="310896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76872" y="44531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Louvain Community Detection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76872" y="47274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users into natural conversational communities based on modularity Q optimization.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STRATEGY &amp; ANALYTICS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Dual-Sink Persistence &amp; the Streamlit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1 · Local MongoDB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raw_messages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landing archive holding the full raw corpus — 765,941 records — at $0 cost.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12B8B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2 · MongoDB Atlas Cloud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074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context-modeling.messages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74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Cloud-verified source of truth: 100% validated, 768D-embedded, LLM-enriched records (~75% payload trimmed for quota).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874520"/>
            <a:ext cx="109728" cy="329184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3 · MongoDB Atlas Cloud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65008" y="23134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validation_errors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65008" y="260604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Dead Letter Queue isolating rejected records with full audit reason.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48640" y="36301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Asynchronous Neo4j Graph Sync — real-time, non-blocking synchronization of interaction weights to the graph store, decoupled from the primary write path.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MULTI-PAGE ANALYTICS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KPI 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throughput, topic distribution treemaps, and intent breakdown at a glance.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44074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Thread Explorer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074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WhatsApp-style interactive visual tree view of reply conversations.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63840" y="466344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/>
        </p:spPr>
      </p:sp>
      <p:sp>
        <p:nvSpPr>
          <p:cNvPr id="33" name="Shape 31"/>
          <p:cNvSpPr/>
          <p:nvPr/>
        </p:nvSpPr>
        <p:spPr>
          <a:xfrm>
            <a:off x="8065008" y="4846320"/>
            <a:ext cx="347472" cy="347472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4809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Graph &amp; Influence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5008" y="5321808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leaderboard and Louvain community visualizations.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Baseline vs. Upgraded Pipeline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7863840" y="1645920"/>
          <a:ext cx="3520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160520"/>
            <a:ext cx="11091672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8" name="Text 3"/>
          <p:cNvSpPr/>
          <p:nvPr/>
        </p:nvSpPr>
        <p:spPr>
          <a:xfrm>
            <a:off x="68580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06324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580644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PIPELINE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9098280" y="416052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IMPACT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48640" y="4544568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8"/>
          <p:cNvSpPr/>
          <p:nvPr/>
        </p:nvSpPr>
        <p:spPr>
          <a:xfrm>
            <a:off x="685800" y="4544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Precision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063240" y="4544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 (Rule-based)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806440" y="4544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(Groq Llama-3.3-70B)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098280" y="45445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+36.8% precision jump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5001768"/>
            <a:ext cx="11091672" cy="4572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063240" y="5001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silent loss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806440" y="5001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 (DLQ isolation)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098280" y="50017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 guarantee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5458968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5458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Dimensions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063240" y="5458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(Sparse TF-IDF)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806440" y="5458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(Dense EmbeddingGemma)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098280" y="545896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semantic depth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4160520"/>
            <a:ext cx="11091672" cy="1755648"/>
          </a:xfrm>
          <a:prstGeom prst="rect">
            <a:avLst/>
          </a:prstGeom>
          <a:ln w="12700">
            <a:solidFill>
              <a:srgbClr val="E3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Value, Risk Mitigation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ADVANTAGES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0299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8-layer validation &amp; DLQ audit isolation.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Sub-Second Latency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816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0.38s/msg processing enables real-time analytics.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090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Topic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3467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precision with Groq Llama-3.3-70B.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256032" cy="256032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36210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Infrastructure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87705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CPU-based EmbeddingGemma vector generation.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2075688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0299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 Rate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1112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8.0s timeout &amp; heuristic fallback.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1112" y="2560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Quotas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11112" y="2816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75% field trimming &amp; hybrid storage.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263640" y="3136392"/>
            <a:ext cx="256032" cy="256032"/>
          </a:xfrm>
          <a:prstGeom prst="ellipse">
            <a:avLst/>
          </a:prstGeom>
          <a:solidFill>
            <a:srgbClr val="FFECE7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11112" y="3090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11112" y="33467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via field masking &amp; Unicode normalization.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STRATEGIC EXTENSIONS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Disk-Backed Vector Persistence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74320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779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2" name="Text 40"/>
          <p:cNvSpPr/>
          <p:nvPr/>
        </p:nvSpPr>
        <p:spPr>
          <a:xfrm>
            <a:off x="290779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88036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Conversational NLP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93776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5" name="Shape 43"/>
          <p:cNvSpPr/>
          <p:nvPr/>
        </p:nvSpPr>
        <p:spPr>
          <a:xfrm>
            <a:off x="510235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46" name="Text 44"/>
          <p:cNvSpPr/>
          <p:nvPr/>
        </p:nvSpPr>
        <p:spPr>
          <a:xfrm>
            <a:off x="510235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7492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API Layer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713232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9691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0" name="Text 48"/>
          <p:cNvSpPr/>
          <p:nvPr/>
        </p:nvSpPr>
        <p:spPr>
          <a:xfrm>
            <a:off x="729691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26948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Auto-Scaling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9326880" y="4956048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</p:spPr>
      </p:sp>
      <p:sp>
        <p:nvSpPr>
          <p:cNvPr id="53" name="Shape 51"/>
          <p:cNvSpPr/>
          <p:nvPr/>
        </p:nvSpPr>
        <p:spPr>
          <a:xfrm>
            <a:off x="9491472" y="5120640"/>
            <a:ext cx="292608" cy="292608"/>
          </a:xfrm>
          <a:prstGeom prst="ellipse">
            <a:avLst/>
          </a:prstGeom>
          <a:solidFill>
            <a:srgbClr val="12B8B0"/>
          </a:solidFill>
          <a:ln/>
        </p:spPr>
      </p:sp>
      <p:sp>
        <p:nvSpPr>
          <p:cNvPr id="54" name="Text 52"/>
          <p:cNvSpPr/>
          <p:nvPr/>
        </p:nvSpPr>
        <p:spPr>
          <a:xfrm>
            <a:off x="9491472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464040" y="550468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Engine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1554480"/>
            <a:ext cx="4206240" cy="420624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57400" y="-1508760"/>
            <a:ext cx="4114800" cy="411480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011680" y="-1463040"/>
            <a:ext cx="4023360" cy="402336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965960" y="-1417320"/>
            <a:ext cx="3931920" cy="393192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920240" y="-1371600"/>
            <a:ext cx="3840480" cy="3840480"/>
          </a:xfrm>
          <a:prstGeom prst="ellipse">
            <a:avLst/>
          </a:prstGeom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522476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Conversational Context Modeling &amp; Social Relationship Intelligence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80076" y="3977640"/>
            <a:ext cx="1828800" cy="0"/>
          </a:xfrm>
          <a:prstGeom prst="line">
            <a:avLst/>
          </a:prstGeom>
          <a:noFill/>
          <a:ln w="25400">
            <a:solidFill>
              <a:srgbClr val="12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2B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522476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8196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369564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5284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ingest_to_local_mongo.py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216652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2372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spark.spark_consumer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063740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9460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kafka_pipeline.producer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8910828" y="5212080"/>
            <a:ext cx="1755648" cy="502920"/>
          </a:xfrm>
          <a:prstGeom prst="roundRect">
            <a:avLst>
              <a:gd name="adj" fmla="val 10909"/>
            </a:avLst>
          </a:prstGeom>
          <a:solidFill>
            <a:srgbClr val="132B4D"/>
          </a:solidFill>
          <a:ln w="12700">
            <a:solidFill>
              <a:srgbClr val="2A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6548" y="5212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FE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dashboard/app.py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0" y="58521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6D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RUNBOOK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63550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HYDERABAD  ·  DIPLOMA IN BIG DATA ANALYTICS  ·  TEAM LEAD: OMROHIT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2026-08-09T11:48:05Z</dcterms:created>
  <dcterms:modified xsi:type="dcterms:W3CDTF">2026-08-09T11:48:05Z</dcterms:modified>
</cp:coreProperties>
</file>